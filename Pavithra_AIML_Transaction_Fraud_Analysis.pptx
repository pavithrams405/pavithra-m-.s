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14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502920"/>
            <a:ext cx="3246120" cy="5852160"/>
          </a:xfrm>
          <a:prstGeom prst="rect">
            <a:avLst/>
          </a:prstGeom>
          <a:solidFill>
            <a:srgbClr val="E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 2026-10-16 15125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828800"/>
            <a:ext cx="4846320" cy="27687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85800"/>
            <a:ext cx="530352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200" b="1" i="0">
                <a:solidFill>
                  <a:srgbClr val="E2F1FF"/>
                </a:solidFill>
                <a:latin typeface="Aptos"/>
              </a:defRPr>
            </a:pPr>
            <a:r>
              <a:t>AIML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6400800" cy="18288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3500" b="1" i="0">
                <a:solidFill>
                  <a:srgbClr val="FFFFFF"/>
                </a:solidFill>
                <a:latin typeface="Aptos"/>
              </a:defRPr>
            </a:pPr>
            <a:r>
              <a:t>TRANSACTION &amp;</a:t>
            </a:r>
            <a:br/>
            <a:r>
              <a:t>FRAUD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60350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600" b="0" i="0">
                <a:solidFill>
                  <a:srgbClr val="E2F1FF"/>
                </a:solidFill>
                <a:latin typeface="Aptos"/>
              </a:defRPr>
            </a:pPr>
            <a:r>
              <a:t>Dashboard Insights • Risk Patterns •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18288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0" i="0">
                <a:solidFill>
                  <a:srgbClr val="E2F1FF"/>
                </a:solidFill>
                <a:latin typeface="Aptos"/>
              </a:defRPr>
            </a:pPr>
            <a:r>
              <a:t>Prepared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85232"/>
            <a:ext cx="320040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300" b="1" i="0">
                <a:solidFill>
                  <a:srgbClr val="FFFFFF"/>
                </a:solidFill>
                <a:latin typeface="Aptos"/>
              </a:defRPr>
            </a:pPr>
            <a:r>
              <a:t>PAVITHRA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34747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0" i="0">
                <a:solidFill>
                  <a:srgbClr val="E2F1FF"/>
                </a:solidFill>
                <a:latin typeface="Aptos"/>
              </a:defRPr>
            </a:pPr>
            <a:r>
              <a:t>B.Com FinTech with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27648"/>
            <a:ext cx="512064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1" i="0">
                <a:solidFill>
                  <a:srgbClr val="E2F1FF"/>
                </a:solidFill>
                <a:latin typeface="Aptos"/>
              </a:defRPr>
            </a:pPr>
            <a:r>
              <a:t>BUSINESS INSIGHT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700" b="1" i="0">
                <a:solidFill>
                  <a:srgbClr val="0D2242"/>
                </a:solidFill>
                <a:latin typeface="Aptos"/>
              </a:defRPr>
            </a:pPr>
            <a:r>
              <a:t>1. Dashboard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143000" cy="50292"/>
          </a:xfrm>
          <a:prstGeom prst="rect">
            <a:avLst/>
          </a:prstGeom>
          <a:solidFill>
            <a:srgbClr val="14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10642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 i="0">
                <a:solidFill>
                  <a:srgbClr val="5F6976"/>
                </a:solidFill>
                <a:latin typeface="Aptos"/>
              </a:defRPr>
            </a:pPr>
            <a:r>
              <a:t>A single-page view of transaction activity, alert types and fraud indicators.</a:t>
            </a:r>
          </a:p>
        </p:txBody>
      </p:sp>
      <p:pic>
        <p:nvPicPr>
          <p:cNvPr id="5" name="Picture 4" descr="Screenshot 2026-10-16 15164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7315200" cy="41747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508760"/>
            <a:ext cx="3429000" cy="4389120"/>
          </a:xfrm>
          <a:prstGeom prst="rect">
            <a:avLst/>
          </a:prstGeom>
          <a:noFill/>
        </p:spPr>
        <p:txBody>
          <a:bodyPr wrap="square" lIns="54864" tIns="36576" rIns="45720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262C34"/>
                </a:solidFill>
                <a:latin typeface="Aptos"/>
              </a:defRPr>
            </a:pPr>
            <a:r>
              <a:t>The dashboard combines headline KPIs with trend and comparison charts.</a:t>
            </a:r>
          </a:p>
          <a:p>
            <a:pPr>
              <a:spcAft>
                <a:spcPts val="1500"/>
              </a:spcAft>
              <a:defRPr sz="1500">
                <a:solidFill>
                  <a:srgbClr val="262C34"/>
                </a:solidFill>
                <a:latin typeface="Aptos"/>
              </a:defRPr>
            </a:pPr>
            <a:r>
              <a:t>KPI cards summarize transaction value, balances, fraud count, accounts and total transactions.</a:t>
            </a:r>
          </a:p>
          <a:p>
            <a:pPr>
              <a:spcAft>
                <a:spcPts val="1500"/>
              </a:spcAft>
              <a:defRPr sz="1500">
                <a:solidFill>
                  <a:srgbClr val="262C34"/>
                </a:solidFill>
                <a:latin typeface="Aptos"/>
              </a:defRPr>
            </a:pPr>
            <a:r>
              <a:t>The charts compare activity over the timeline, alert types, and fraud vs. non-fraud transactions.</a:t>
            </a:r>
          </a:p>
          <a:p>
            <a:pPr>
              <a:spcAft>
                <a:spcPts val="1500"/>
              </a:spcAft>
              <a:defRPr sz="1500">
                <a:solidFill>
                  <a:srgbClr val="262C34"/>
                </a:solidFill>
                <a:latin typeface="Aptos"/>
              </a:defRPr>
            </a:pPr>
            <a:r>
              <a:t>Filters shown in the reference allow users to focus on fraud status and alert 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110642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00" b="0" i="0">
                <a:solidFill>
                  <a:srgbClr val="5F6976"/>
                </a:solidFill>
                <a:latin typeface="Aptos"/>
              </a:defRPr>
            </a:pPr>
            <a:r>
              <a:t>PAVITHRA  •  AIML TRANSACTION &amp; FRAUD ANALYSIS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700" b="1" i="0">
                <a:solidFill>
                  <a:srgbClr val="0D2242"/>
                </a:solidFill>
                <a:latin typeface="Aptos"/>
              </a:defRPr>
            </a:pPr>
            <a:r>
              <a:t>2. Key Performance Indicators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143000" cy="50292"/>
          </a:xfrm>
          <a:prstGeom prst="rect">
            <a:avLst/>
          </a:prstGeom>
          <a:solidFill>
            <a:srgbClr val="14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10642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 i="0">
                <a:solidFill>
                  <a:srgbClr val="5F6976"/>
                </a:solidFill>
                <a:latin typeface="Aptos"/>
              </a:defRPr>
            </a:pPr>
            <a:r>
              <a:t>Values transcribed from the supplied dashboard screenshots.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15468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81912"/>
            <a:ext cx="28346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 i="0">
                <a:solidFill>
                  <a:srgbClr val="5F6976"/>
                </a:solidFill>
                <a:latin typeface="Aptos"/>
              </a:defRPr>
            </a:pPr>
            <a:r>
              <a:t>Average Transaction Amount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2834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500" b="1" i="0">
                <a:solidFill>
                  <a:srgbClr val="0D2242"/>
                </a:solidFill>
                <a:latin typeface="Aptos"/>
              </a:defRPr>
            </a:pPr>
            <a:r>
              <a:t>115.99K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417320"/>
            <a:ext cx="315468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1581912"/>
            <a:ext cx="28346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 i="0">
                <a:solidFill>
                  <a:srgbClr val="5F6976"/>
                </a:solidFill>
                <a:latin typeface="Aptos"/>
              </a:defRPr>
            </a:pPr>
            <a:r>
              <a:t>Total Initial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1984248"/>
            <a:ext cx="2834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500" b="1" i="0">
                <a:solidFill>
                  <a:srgbClr val="0D2242"/>
                </a:solidFill>
                <a:latin typeface="Aptos"/>
              </a:defRPr>
            </a:pPr>
            <a:r>
              <a:t>2.80M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417320"/>
            <a:ext cx="315468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1581912"/>
            <a:ext cx="28346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 i="0">
                <a:solidFill>
                  <a:srgbClr val="5F6976"/>
                </a:solidFill>
                <a:latin typeface="Aptos"/>
              </a:defRPr>
            </a:pPr>
            <a:r>
              <a:t>Fraudulent 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1984248"/>
            <a:ext cx="2834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500" b="1" i="0">
                <a:solidFill>
                  <a:srgbClr val="0D2242"/>
                </a:solidFill>
                <a:latin typeface="Aptos"/>
              </a:defRPr>
            </a:pPr>
            <a:r>
              <a:t>1,719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315468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502152"/>
            <a:ext cx="28346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 i="0">
                <a:solidFill>
                  <a:srgbClr val="5F6976"/>
                </a:solidFill>
                <a:latin typeface="Aptos"/>
              </a:defRPr>
            </a:pPr>
            <a:r>
              <a:t>Total Transaction Amount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904487"/>
            <a:ext cx="2834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500" b="1" i="0">
                <a:solidFill>
                  <a:srgbClr val="0D2242"/>
                </a:solidFill>
                <a:latin typeface="Aptos"/>
              </a:defRPr>
            </a:pPr>
            <a:r>
              <a:t>153.48bn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337560"/>
            <a:ext cx="315468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3502152"/>
            <a:ext cx="28346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 i="0">
                <a:solidFill>
                  <a:srgbClr val="5F6976"/>
                </a:solidFill>
                <a:latin typeface="Aptos"/>
              </a:defRPr>
            </a:pPr>
            <a:r>
              <a:t>Total Accounts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904487"/>
            <a:ext cx="2834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500" b="1" i="0">
                <a:solidFill>
                  <a:srgbClr val="0D2242"/>
                </a:solidFill>
                <a:latin typeface="Aptos"/>
              </a:defRPr>
            </a:pPr>
            <a:r>
              <a:t>10K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337560"/>
            <a:ext cx="315468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3502152"/>
            <a:ext cx="28346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 i="0">
                <a:solidFill>
                  <a:srgbClr val="5F6976"/>
                </a:solidFill>
                <a:latin typeface="Aptos"/>
              </a:defRPr>
            </a:pPr>
            <a:r>
              <a:t>Total Transactions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3904487"/>
            <a:ext cx="28346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500" b="1" i="0">
                <a:solidFill>
                  <a:srgbClr val="0D2242"/>
                </a:solidFill>
                <a:latin typeface="Aptos"/>
              </a:defRPr>
            </a:pPr>
            <a:r>
              <a:t>1.32M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57800"/>
            <a:ext cx="20116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1" i="0">
                <a:solidFill>
                  <a:srgbClr val="148BFF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577840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500" b="0" i="0">
                <a:solidFill>
                  <a:srgbClr val="262C34"/>
                </a:solidFill>
                <a:latin typeface="Aptos"/>
              </a:defRPr>
            </a:pPr>
            <a:r>
              <a:t>These figures give a quick overview of transaction scale and the number of flagged transactions. Amounts are presented exactly as displayed in the screenshots.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9672"/>
            <a:ext cx="110642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00" b="0" i="0">
                <a:solidFill>
                  <a:srgbClr val="5F6976"/>
                </a:solidFill>
                <a:latin typeface="Aptos"/>
              </a:defRPr>
            </a:pPr>
            <a:r>
              <a:t>PAVITHRA  •  AIML TRANSACTION &amp; FRAUD ANALYSIS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700" b="1" i="0">
                <a:solidFill>
                  <a:srgbClr val="0D2242"/>
                </a:solidFill>
                <a:latin typeface="Aptos"/>
              </a:defRPr>
            </a:pPr>
            <a:r>
              <a:t>3. Transaction Trend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143000" cy="50292"/>
          </a:xfrm>
          <a:prstGeom prst="rect">
            <a:avLst/>
          </a:prstGeom>
          <a:solidFill>
            <a:srgbClr val="14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10642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 i="0">
                <a:solidFill>
                  <a:srgbClr val="5F6976"/>
                </a:solidFill>
                <a:latin typeface="Aptos"/>
              </a:defRPr>
            </a:pPr>
            <a:r>
              <a:t>Total transactions plotted against the timestamp sequence.</a:t>
            </a:r>
          </a:p>
        </p:txBody>
      </p:sp>
      <p:pic>
        <p:nvPicPr>
          <p:cNvPr id="5" name="Picture 4" descr="Screenshot 2026-10-16 15125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6766560" cy="38657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508760"/>
            <a:ext cx="3931920" cy="4389120"/>
          </a:xfrm>
          <a:prstGeom prst="rect">
            <a:avLst/>
          </a:prstGeom>
          <a:noFill/>
        </p:spPr>
        <p:txBody>
          <a:bodyPr wrap="square" lIns="54864" tIns="36576" rIns="45720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62C34"/>
                </a:solidFill>
                <a:latin typeface="Aptos"/>
              </a:defRPr>
            </a:pPr>
            <a:r>
              <a:t>The line rises sharply at the beginning, then fluctuates around a relatively steady band.</a:t>
            </a:r>
          </a:p>
          <a:p>
            <a:pPr>
              <a:spcAft>
                <a:spcPts val="1500"/>
              </a:spcAft>
              <a:defRPr sz="1600">
                <a:solidFill>
                  <a:srgbClr val="262C34"/>
                </a:solidFill>
                <a:latin typeface="Aptos"/>
              </a:defRPr>
            </a:pPr>
            <a:r>
              <a:t>Most visible values sit approximately between 6,200 and 7,000 on the chart’s vertical scale.</a:t>
            </a:r>
          </a:p>
          <a:p>
            <a:pPr>
              <a:spcAft>
                <a:spcPts val="1500"/>
              </a:spcAft>
              <a:defRPr sz="1600">
                <a:solidFill>
                  <a:srgbClr val="262C34"/>
                </a:solidFill>
                <a:latin typeface="Aptos"/>
              </a:defRPr>
            </a:pPr>
            <a:r>
              <a:t>Short-term peaks and dips suggest transaction volume changes frequently across timestamps.</a:t>
            </a:r>
          </a:p>
          <a:p>
            <a:pPr>
              <a:spcAft>
                <a:spcPts val="1500"/>
              </a:spcAft>
              <a:defRPr sz="1600">
                <a:solidFill>
                  <a:srgbClr val="262C34"/>
                </a:solidFill>
                <a:latin typeface="Aptos"/>
              </a:defRPr>
            </a:pPr>
            <a:r>
              <a:t>Monitoring unusual deviations from the normal range can help identify periods that need investigation.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110642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00" b="0" i="0">
                <a:solidFill>
                  <a:srgbClr val="5F6976"/>
                </a:solidFill>
                <a:latin typeface="Aptos"/>
              </a:defRPr>
            </a:pPr>
            <a:r>
              <a:t>PAVITHRA  •  AIML TRANSACTION &amp; FRAUD ANALYSIS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700" b="1" i="0">
                <a:solidFill>
                  <a:srgbClr val="0D2242"/>
                </a:solidFill>
                <a:latin typeface="Aptos"/>
              </a:defRPr>
            </a:pPr>
            <a:r>
              <a:t>4. Alert Type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143000" cy="50292"/>
          </a:xfrm>
          <a:prstGeom prst="rect">
            <a:avLst/>
          </a:prstGeom>
          <a:solidFill>
            <a:srgbClr val="14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10642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 i="0">
                <a:solidFill>
                  <a:srgbClr val="5F6976"/>
                </a:solidFill>
                <a:latin typeface="Aptos"/>
              </a:defRPr>
            </a:pPr>
            <a:r>
              <a:t>Counts of alert IDs by alert type.</a:t>
            </a:r>
          </a:p>
        </p:txBody>
      </p:sp>
      <p:pic>
        <p:nvPicPr>
          <p:cNvPr id="5" name="Picture 4" descr="Screenshot 2026-10-16 15164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6675120" cy="380942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26679" y="1600200"/>
            <a:ext cx="34290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91271" y="1764792"/>
            <a:ext cx="31089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 i="0">
                <a:solidFill>
                  <a:srgbClr val="5F6976"/>
                </a:solidFill>
                <a:latin typeface="Aptos"/>
              </a:defRPr>
            </a:pPr>
            <a:r>
              <a:t>Higher alert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1271" y="2167128"/>
            <a:ext cx="31089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500" b="1" i="0">
                <a:solidFill>
                  <a:srgbClr val="0D2242"/>
                </a:solidFill>
                <a:latin typeface="Aptos"/>
              </a:defRPr>
            </a:pPr>
            <a:r>
              <a:t>cycle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3154680"/>
            <a:ext cx="34290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91271" y="3319272"/>
            <a:ext cx="31089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 i="0">
                <a:solidFill>
                  <a:srgbClr val="5F6976"/>
                </a:solidFill>
                <a:latin typeface="Aptos"/>
              </a:defRPr>
            </a:pPr>
            <a:r>
              <a:t>Other alert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1271" y="3721608"/>
            <a:ext cx="31089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500" b="1" i="0">
                <a:solidFill>
                  <a:srgbClr val="0D2242"/>
                </a:solidFill>
                <a:latin typeface="Aptos"/>
              </a:defRPr>
            </a:pPr>
            <a:r>
              <a:t>fan_in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754880"/>
            <a:ext cx="324612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0" i="0">
                <a:solidFill>
                  <a:srgbClr val="262C34"/>
                </a:solidFill>
                <a:latin typeface="Aptos"/>
              </a:defRPr>
            </a:pPr>
            <a:r>
              <a:t>The screenshot shows cycle alerts as the larger of the two displayed categories, with fan_in lower. The exact values are not printed on the cards, so the comparison is directional.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9672"/>
            <a:ext cx="110642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00" b="0" i="0">
                <a:solidFill>
                  <a:srgbClr val="5F6976"/>
                </a:solidFill>
                <a:latin typeface="Aptos"/>
              </a:defRPr>
            </a:pPr>
            <a:r>
              <a:t>PAVITHRA  •  AIML TRANSACTION &amp; FRAUD ANALYSIS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700" b="1" i="0">
                <a:solidFill>
                  <a:srgbClr val="0D2242"/>
                </a:solidFill>
                <a:latin typeface="Aptos"/>
              </a:defRPr>
            </a:pPr>
            <a:r>
              <a:t>5. Transaction Amount by Fraud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143000" cy="50292"/>
          </a:xfrm>
          <a:prstGeom prst="rect">
            <a:avLst/>
          </a:prstGeom>
          <a:solidFill>
            <a:srgbClr val="14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10642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 i="0">
                <a:solidFill>
                  <a:srgbClr val="5F6976"/>
                </a:solidFill>
                <a:latin typeface="Aptos"/>
              </a:defRPr>
            </a:pPr>
            <a:r>
              <a:t>Total transaction amount split by IS_FRAUD.</a:t>
            </a:r>
          </a:p>
        </p:txBody>
      </p:sp>
      <p:pic>
        <p:nvPicPr>
          <p:cNvPr id="5" name="Picture 4" descr="Screenshot 2026-10-16 15164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6766560" cy="38616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463040"/>
            <a:ext cx="3840480" cy="4480560"/>
          </a:xfrm>
          <a:prstGeom prst="rect">
            <a:avLst/>
          </a:prstGeom>
          <a:noFill/>
        </p:spPr>
        <p:txBody>
          <a:bodyPr wrap="square" lIns="54864" tIns="36576" rIns="45720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262C34"/>
                </a:solidFill>
                <a:latin typeface="Aptos"/>
              </a:defRPr>
            </a:pPr>
            <a:r>
              <a:t>The non-fraud (False) bar accounts for nearly all of the displayed transaction amount.</a:t>
            </a:r>
          </a:p>
          <a:p>
            <a:pPr>
              <a:spcAft>
                <a:spcPts val="1500"/>
              </a:spcAft>
              <a:defRPr sz="1500">
                <a:solidFill>
                  <a:srgbClr val="262C34"/>
                </a:solidFill>
                <a:latin typeface="Aptos"/>
              </a:defRPr>
            </a:pPr>
            <a:r>
              <a:t>The fraud (True) bar is very small in comparison.</a:t>
            </a:r>
          </a:p>
          <a:p>
            <a:pPr>
              <a:spcAft>
                <a:spcPts val="1500"/>
              </a:spcAft>
              <a:defRPr sz="1500">
                <a:solidFill>
                  <a:srgbClr val="262C34"/>
                </a:solidFill>
                <a:latin typeface="Aptos"/>
              </a:defRPr>
            </a:pPr>
            <a:r>
              <a:t>A large amount associated with non-fraud activity does not mean the smaller fraud amount is unimportant; fraud can still create losses and trust risks.</a:t>
            </a:r>
          </a:p>
          <a:p>
            <a:pPr>
              <a:spcAft>
                <a:spcPts val="1500"/>
              </a:spcAft>
              <a:defRPr sz="1500">
                <a:solidFill>
                  <a:srgbClr val="262C34"/>
                </a:solidFill>
                <a:latin typeface="Aptos"/>
              </a:defRPr>
            </a:pPr>
            <a:r>
              <a:t>Review flagged transactions individually and compare value, frequency and alert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9672"/>
            <a:ext cx="110642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00" b="0" i="0">
                <a:solidFill>
                  <a:srgbClr val="5F6976"/>
                </a:solidFill>
                <a:latin typeface="Aptos"/>
              </a:defRPr>
            </a:pPr>
            <a:r>
              <a:t>PAVITHRA  •  AIML TRANSACTION &amp; FRAUD ANALYSIS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700" b="1" i="0">
                <a:solidFill>
                  <a:srgbClr val="0D2242"/>
                </a:solidFill>
                <a:latin typeface="Aptos"/>
              </a:defRPr>
            </a:pPr>
            <a:r>
              <a:t>6. Transaction Count by Fraud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143000" cy="50292"/>
          </a:xfrm>
          <a:prstGeom prst="rect">
            <a:avLst/>
          </a:prstGeom>
          <a:solidFill>
            <a:srgbClr val="14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10642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 i="0">
                <a:solidFill>
                  <a:srgbClr val="5F6976"/>
                </a:solidFill>
                <a:latin typeface="Aptos"/>
              </a:defRPr>
            </a:pPr>
            <a:r>
              <a:t>Donut chart showing the distribution by IS_FRAUD.</a:t>
            </a:r>
          </a:p>
        </p:txBody>
      </p:sp>
      <p:pic>
        <p:nvPicPr>
          <p:cNvPr id="5" name="Picture 4" descr="Screenshot 2026-10-16 15165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4754880" cy="35856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06440" y="1600200"/>
            <a:ext cx="24688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1031" y="1764792"/>
            <a:ext cx="21488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 i="0">
                <a:solidFill>
                  <a:srgbClr val="5F6976"/>
                </a:solidFill>
                <a:latin typeface="Aptos"/>
              </a:defRPr>
            </a:pPr>
            <a:r>
              <a:t>Fraudulent 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1031" y="2167128"/>
            <a:ext cx="21488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500" b="1" i="0">
                <a:solidFill>
                  <a:srgbClr val="0D2242"/>
                </a:solidFill>
                <a:latin typeface="Aptos"/>
              </a:defRPr>
            </a:pPr>
            <a:r>
              <a:t>1,719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1600200"/>
            <a:ext cx="24688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14232" y="1764792"/>
            <a:ext cx="21488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 i="0">
                <a:solidFill>
                  <a:srgbClr val="5F6976"/>
                </a:solidFill>
                <a:latin typeface="Aptos"/>
              </a:defRPr>
            </a:pPr>
            <a:r>
              <a:t>Total 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14232" y="2167128"/>
            <a:ext cx="214884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500" b="1" i="0">
                <a:solidFill>
                  <a:srgbClr val="0D2242"/>
                </a:solidFill>
                <a:latin typeface="Aptos"/>
              </a:defRPr>
            </a:pPr>
            <a:r>
              <a:t>1.32M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337560"/>
            <a:ext cx="5120640" cy="12344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0" i="0">
                <a:solidFill>
                  <a:srgbClr val="262C34"/>
                </a:solidFill>
                <a:latin typeface="Aptos"/>
              </a:defRPr>
            </a:pPr>
            <a:r>
              <a:t>The donut chart labels the False group at about 99.87% and the True group at about 0.13% (rounded labels in the screenshot). This indicates that flagged fraud transactions represent a small share of total volume.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4937760"/>
            <a:ext cx="512064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 i="0">
                <a:solidFill>
                  <a:srgbClr val="148BFF"/>
                </a:solidFill>
                <a:latin typeface="Aptos"/>
              </a:defRPr>
            </a:pPr>
            <a:r>
              <a:t>Key point: a small percentage still deserves strong controls, because fraud impact is not measured by count alone.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9672"/>
            <a:ext cx="110642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00" b="0" i="0">
                <a:solidFill>
                  <a:srgbClr val="5F6976"/>
                </a:solidFill>
                <a:latin typeface="Aptos"/>
              </a:defRPr>
            </a:pPr>
            <a:r>
              <a:t>PAVITHRA  •  AIML TRANSACTION &amp; FRAUD ANALYSIS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700" b="1" i="0">
                <a:solidFill>
                  <a:srgbClr val="0D2242"/>
                </a:solidFill>
                <a:latin typeface="Aptos"/>
              </a:defRPr>
            </a:pPr>
            <a:r>
              <a:t>7. Key Insights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143000" cy="50292"/>
          </a:xfrm>
          <a:prstGeom prst="rect">
            <a:avLst/>
          </a:prstGeom>
          <a:solidFill>
            <a:srgbClr val="14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10642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 i="0">
                <a:solidFill>
                  <a:srgbClr val="5F6976"/>
                </a:solidFill>
                <a:latin typeface="Aptos"/>
              </a:defRPr>
            </a:pPr>
            <a:r>
              <a:t>Practical actions based on the visible dashboard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8463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 i="0">
                <a:solidFill>
                  <a:srgbClr val="148BFF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074920" cy="4023360"/>
          </a:xfrm>
          <a:prstGeom prst="rect">
            <a:avLst/>
          </a:prstGeom>
          <a:noFill/>
        </p:spPr>
        <p:txBody>
          <a:bodyPr wrap="square" lIns="54864" tIns="36576" rIns="45720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62C34"/>
                </a:solidFill>
                <a:latin typeface="Aptos"/>
              </a:defRPr>
            </a:pPr>
            <a:r>
              <a:t>Transaction volume remains high across the timestamp sequence.</a:t>
            </a:r>
          </a:p>
          <a:p>
            <a:pPr>
              <a:spcAft>
                <a:spcPts val="1500"/>
              </a:spcAft>
              <a:defRPr sz="1600">
                <a:solidFill>
                  <a:srgbClr val="262C34"/>
                </a:solidFill>
                <a:latin typeface="Aptos"/>
              </a:defRPr>
            </a:pPr>
            <a:r>
              <a:t>Cycle alerts are more numerous than fan_in alerts in the shown comparison.</a:t>
            </a:r>
          </a:p>
          <a:p>
            <a:pPr>
              <a:spcAft>
                <a:spcPts val="1500"/>
              </a:spcAft>
              <a:defRPr sz="1600">
                <a:solidFill>
                  <a:srgbClr val="262C34"/>
                </a:solidFill>
                <a:latin typeface="Aptos"/>
              </a:defRPr>
            </a:pPr>
            <a:r>
              <a:t>The fraud-labelled transaction count is a small share of total transactions.</a:t>
            </a:r>
          </a:p>
          <a:p>
            <a:pPr>
              <a:spcAft>
                <a:spcPts val="1500"/>
              </a:spcAft>
              <a:defRPr sz="1600">
                <a:solidFill>
                  <a:srgbClr val="262C34"/>
                </a:solidFill>
                <a:latin typeface="Aptos"/>
              </a:defRPr>
            </a:pPr>
            <a:r>
              <a:t>Most displayed transaction amount belongs to the non-fraud group.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25880"/>
            <a:ext cx="48463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 i="0">
                <a:solidFill>
                  <a:srgbClr val="148BFF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5029200" cy="4023360"/>
          </a:xfrm>
          <a:prstGeom prst="rect">
            <a:avLst/>
          </a:prstGeom>
          <a:noFill/>
        </p:spPr>
        <p:txBody>
          <a:bodyPr wrap="square" lIns="54864" tIns="36576" rIns="45720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62C34"/>
                </a:solidFill>
                <a:latin typeface="Aptos"/>
              </a:defRPr>
            </a:pPr>
            <a:r>
              <a:t>Investigate high-value and unusual transactions flagged by the system.</a:t>
            </a:r>
          </a:p>
          <a:p>
            <a:pPr>
              <a:spcAft>
                <a:spcPts val="1500"/>
              </a:spcAft>
              <a:defRPr sz="1600">
                <a:solidFill>
                  <a:srgbClr val="262C34"/>
                </a:solidFill>
                <a:latin typeface="Aptos"/>
              </a:defRPr>
            </a:pPr>
            <a:r>
              <a:t>Review cycle alerts frequently and track repeat patterns.</a:t>
            </a:r>
          </a:p>
          <a:p>
            <a:pPr>
              <a:spcAft>
                <a:spcPts val="1500"/>
              </a:spcAft>
              <a:defRPr sz="1600">
                <a:solidFill>
                  <a:srgbClr val="262C34"/>
                </a:solidFill>
                <a:latin typeface="Aptos"/>
              </a:defRPr>
            </a:pPr>
            <a:r>
              <a:t>Use filters to compare alert type and fraud status during investigations.</a:t>
            </a:r>
          </a:p>
          <a:p>
            <a:pPr>
              <a:spcAft>
                <a:spcPts val="1500"/>
              </a:spcAft>
              <a:defRPr sz="1600">
                <a:solidFill>
                  <a:srgbClr val="262C34"/>
                </a:solidFill>
                <a:latin typeface="Aptos"/>
              </a:defRPr>
            </a:pPr>
            <a:r>
              <a:t>Monitor false positives and update detection rules as new patterns emerge.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110642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800" b="0" i="0">
                <a:solidFill>
                  <a:srgbClr val="5F6976"/>
                </a:solidFill>
                <a:latin typeface="Aptos"/>
              </a:defRPr>
            </a:pPr>
            <a:r>
              <a:t>PAVITHRA  •  AIML TRANSACTION &amp; FRAUD ANALYSIS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365760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800" b="1" i="0">
                <a:solidFill>
                  <a:srgbClr val="E2F1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3100" b="1" i="0">
                <a:solidFill>
                  <a:srgbClr val="FFFFFF"/>
                </a:solidFill>
                <a:latin typeface="Aptos"/>
              </a:defRPr>
            </a:pPr>
            <a:r>
              <a:t>Turning transaction data into clearer risk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9875520" cy="1371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000" b="0" i="0">
                <a:solidFill>
                  <a:srgbClr val="E2F1FF"/>
                </a:solidFill>
                <a:latin typeface="Aptos"/>
              </a:defRPr>
            </a:pPr>
            <a:r>
              <a:t>The dashboard provides a useful overview of transaction amount, volume, alert types and fraud distribution. Its strongest value is helping analysts identify where to investigate further rather than treating a single KPI as a complete risk assessment.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572000"/>
            <a:ext cx="2926080" cy="1051560"/>
          </a:xfrm>
          <a:prstGeom prst="roundRect">
            <a:avLst/>
          </a:prstGeom>
          <a:solidFill>
            <a:srgbClr val="19395F"/>
          </a:solidFill>
          <a:ln>
            <a:solidFill>
              <a:srgbClr val="1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36592"/>
            <a:ext cx="26517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1" i="0">
                <a:solidFill>
                  <a:srgbClr val="E2F1FF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265176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 i="0">
                <a:solidFill>
                  <a:srgbClr val="FFFFFF"/>
                </a:solidFill>
                <a:latin typeface="Aptos"/>
              </a:defRPr>
            </a:pPr>
            <a:r>
              <a:t>Track transaction trends and unusual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4572000"/>
            <a:ext cx="2926080" cy="1051560"/>
          </a:xfrm>
          <a:prstGeom prst="roundRect">
            <a:avLst/>
          </a:prstGeom>
          <a:solidFill>
            <a:srgbClr val="19395F"/>
          </a:solidFill>
          <a:ln>
            <a:solidFill>
              <a:srgbClr val="1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4736592"/>
            <a:ext cx="26517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1" i="0">
                <a:solidFill>
                  <a:srgbClr val="E2F1FF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5029200"/>
            <a:ext cx="265176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 i="0">
                <a:solidFill>
                  <a:srgbClr val="FFFFFF"/>
                </a:solidFill>
                <a:latin typeface="Aptos"/>
              </a:defRPr>
            </a:pPr>
            <a:r>
              <a:t>Prioritize suspicious alerts and high-value cases.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4572000"/>
            <a:ext cx="2926080" cy="1051560"/>
          </a:xfrm>
          <a:prstGeom prst="roundRect">
            <a:avLst/>
          </a:prstGeom>
          <a:solidFill>
            <a:srgbClr val="19395F"/>
          </a:solidFill>
          <a:ln>
            <a:solidFill>
              <a:srgbClr val="14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4736592"/>
            <a:ext cx="26517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1" i="0">
                <a:solidFill>
                  <a:srgbClr val="E2F1FF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5029200"/>
            <a:ext cx="265176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 i="0">
                <a:solidFill>
                  <a:srgbClr val="FFFFFF"/>
                </a:solidFill>
                <a:latin typeface="Aptos"/>
              </a:defRPr>
            </a:pPr>
            <a:r>
              <a:t>Use findings to refine controls and detection rules.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263640"/>
            <a:ext cx="68580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0" i="0">
                <a:solidFill>
                  <a:srgbClr val="E2F1FF"/>
                </a:solidFill>
                <a:latin typeface="Aptos"/>
              </a:defRPr>
            </a:pPr>
            <a:r>
              <a:t>Prepared by PAVITHRA  •  B.Com FinTech with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4464</Words>
  <Application>WPS Presentation</Application>
  <PresentationFormat>On-screen Show (4:3)</PresentationFormat>
  <Paragraphs>155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sowmiyamathyazhagan 1</cp:lastModifiedBy>
  <cp:revision>2</cp:revision>
  <dcterms:created xsi:type="dcterms:W3CDTF">2013-01-27T09:14:00Z</dcterms:created>
  <dcterms:modified xsi:type="dcterms:W3CDTF">2026-10-16T14:05:19Z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8288B857A0C74D159E3B81128F5EDBD7_13</vt:lpwstr>
  </property>
  <property fmtid="{D5CDD505-2E9C-101B-9397-08002B2CF9AE}" pid="3" name="KSOProductBuildVer">
    <vt:lpwstr>1033-12.1.0.28485</vt:lpwstr>
  </property>
</Properties>
</file>